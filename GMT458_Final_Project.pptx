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430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E5FF"/>
                </a:solidFill>
              </a:rPr>
              <a:t>FINAL PROJECT</a:t>
            </a:r>
          </a:p>
          <a:p>
            <a:r>
              <a:rPr sz="5800" b="1">
                <a:solidFill>
                  <a:srgbClr val="EBF2FF"/>
                </a:solidFill>
              </a:rPr>
              <a:t>CHAMPIONS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97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ABAD2"/>
                </a:solidFill>
              </a:defRPr>
            </a:pPr>
            <a:r>
              <a:t>GMT458 – Web GIS | Web-based Geospatial Game (AWS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BF2FF"/>
                </a:solidFill>
              </a:defRPr>
            </a:pPr>
            <a:r>
              <a:t>Student: Enes Dicle</a:t>
            </a:r>
          </a:p>
          <a:p>
            <a:pPr>
              <a:spcAft>
                <a:spcPts val="600"/>
              </a:spcAft>
              <a:defRPr sz="1800">
                <a:solidFill>
                  <a:srgbClr val="EBF2FF"/>
                </a:solidFill>
              </a:defRPr>
            </a:pPr>
            <a:r>
              <a:t>Core Gameplay: click the map → distance error (km) + time → score</a:t>
            </a:r>
          </a:p>
          <a:p>
            <a:pPr>
              <a:spcAft>
                <a:spcPts val="600"/>
              </a:spcAft>
              <a:defRPr sz="1800">
                <a:solidFill>
                  <a:srgbClr val="EBF2FF"/>
                </a:solidFill>
              </a:defRPr>
            </a:pPr>
            <a:r>
              <a:t>Deployment: AWS EC2 (Live &amp; Publicly Accessible)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852160"/>
            <a:ext cx="10744200" cy="109728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1428"/>
          </a:solidFill>
          <a:ln>
            <a:solidFill>
              <a:srgbClr val="0E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BF2FF"/>
                </a:solidFill>
              </a:rPr>
              <a:t>Project Overview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AD2"/>
                </a:solidFill>
              </a:rPr>
              <a:t>What we built and what we aimed to demonstrate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10744200" cy="5623560"/>
          </a:xfrm>
          <a:prstGeom prst="roundRect">
            <a:avLst/>
          </a:prstGeom>
          <a:solidFill>
            <a:srgbClr val="0E1428"/>
          </a:solidFill>
          <a:ln w="15240">
            <a:solidFill>
              <a:srgbClr val="28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73152" cy="5623560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344168"/>
            <a:ext cx="10287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BF2FF"/>
                </a:solidFill>
              </a:defRPr>
            </a:pPr>
            <a:r>
              <a:t>Champions Map is a browser-based Web GIS game where the map is the main gameplay interface.</a:t>
            </a:r>
          </a:p>
          <a:p>
            <a:pPr>
              <a:spcAft>
                <a:spcPts val="600"/>
              </a:spcAft>
              <a:defRPr sz="1800">
                <a:solidFill>
                  <a:srgbClr val="EBF2FF"/>
                </a:solidFill>
              </a:defRPr>
            </a:pPr>
            <a:r>
              <a:t>Players receive a target club and try to locate the correct stadium by clicking on the map.</a:t>
            </a:r>
          </a:p>
          <a:p>
            <a:pPr>
              <a:spcAft>
                <a:spcPts val="600"/>
              </a:spcAft>
              <a:defRPr sz="1800">
                <a:solidFill>
                  <a:srgbClr val="EBF2FF"/>
                </a:solidFill>
              </a:defRPr>
            </a:pPr>
            <a:r>
              <a:t>We compute the distance error using geographic coordinates and convert accuracy into points.</a:t>
            </a:r>
          </a:p>
          <a:p>
            <a:pPr>
              <a:spcAft>
                <a:spcPts val="600"/>
              </a:spcAft>
              <a:defRPr sz="1800">
                <a:solidFill>
                  <a:srgbClr val="EBF2FF"/>
                </a:solidFill>
              </a:defRPr>
            </a:pPr>
            <a:r>
              <a:t>A time limit creates competitive pressure and adds a performance dimension to gameplay.</a:t>
            </a:r>
          </a:p>
          <a:p>
            <a:pPr>
              <a:spcAft>
                <a:spcPts val="600"/>
              </a:spcAft>
              <a:defRPr sz="1800">
                <a:solidFill>
                  <a:srgbClr val="EBF2FF"/>
                </a:solidFill>
              </a:defRPr>
            </a:pPr>
            <a:r>
              <a:t>Objectives: Web GIS interaction + geospatial datasets + scoring/time mechanics + cloud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1428"/>
          </a:solidFill>
          <a:ln>
            <a:solidFill>
              <a:srgbClr val="0E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BF2FF"/>
                </a:solidFill>
              </a:rPr>
              <a:t>Implemented Items (Course Checklist Alignment)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AD2"/>
                </a:solidFill>
              </a:rPr>
              <a:t>Clear and honest mapping to the requested implementation items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10744200" cy="5623560"/>
          </a:xfrm>
          <a:prstGeom prst="roundRect">
            <a:avLst/>
          </a:prstGeom>
          <a:solidFill>
            <a:srgbClr val="0E1428"/>
          </a:solidFill>
          <a:ln w="15240">
            <a:solidFill>
              <a:srgbClr val="28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73152" cy="5623560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344168"/>
            <a:ext cx="10287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BF2FF"/>
                </a:solidFill>
              </a:defRPr>
            </a:pPr>
            <a:r>
              <a:t>Geospatial interaction: map-based selection + spatial reasoning task (stadium location).</a:t>
            </a:r>
          </a:p>
          <a:p>
            <a:pPr>
              <a:spcAft>
                <a:spcPts val="600"/>
              </a:spcAft>
              <a:defRPr sz="1700">
                <a:solidFill>
                  <a:srgbClr val="EBF2FF"/>
                </a:solidFill>
              </a:defRPr>
            </a:pPr>
            <a:r>
              <a:t>Geospatial data usage: teams.geojson and coordinates.csv drive the gameplay.</a:t>
            </a:r>
          </a:p>
          <a:p>
            <a:pPr>
              <a:spcAft>
                <a:spcPts val="600"/>
              </a:spcAft>
              <a:defRPr sz="1700">
                <a:solidFill>
                  <a:srgbClr val="EBF2FF"/>
                </a:solidFill>
              </a:defRPr>
            </a:pPr>
            <a:r>
              <a:t>Distance-based scoring: distance (km) between player click and true coordinate is computed and displayed.</a:t>
            </a:r>
          </a:p>
          <a:p>
            <a:pPr>
              <a:spcAft>
                <a:spcPts val="600"/>
              </a:spcAft>
              <a:defRPr sz="1700">
                <a:solidFill>
                  <a:srgbClr val="EBF2FF"/>
                </a:solidFill>
              </a:defRPr>
            </a:pPr>
            <a:r>
              <a:t>Time-based performance: timer affects gameplay; points reward fast + accurate decisions.</a:t>
            </a:r>
          </a:p>
          <a:p>
            <a:pPr>
              <a:spcAft>
                <a:spcPts val="600"/>
              </a:spcAft>
              <a:defRPr sz="1700">
                <a:solidFill>
                  <a:srgbClr val="EBF2FF"/>
                </a:solidFill>
              </a:defRPr>
            </a:pPr>
            <a:r>
              <a:t>Backend data persistence: score records are stored and retrieved via JSON (create/read).</a:t>
            </a:r>
          </a:p>
          <a:p>
            <a:pPr>
              <a:spcAft>
                <a:spcPts val="600"/>
              </a:spcAft>
              <a:defRPr sz="1700">
                <a:solidFill>
                  <a:srgbClr val="EBF2FF"/>
                </a:solidFill>
              </a:defRPr>
            </a:pPr>
            <a:r>
              <a:t>Cloud deployment: the project runs live on AWS EC2 and is publicly accessible.</a:t>
            </a:r>
          </a:p>
          <a:p>
            <a:pPr>
              <a:spcAft>
                <a:spcPts val="600"/>
              </a:spcAft>
              <a:defRPr sz="1700">
                <a:solidFill>
                  <a:srgbClr val="EBF2FF"/>
                </a:solidFill>
              </a:defRPr>
            </a:pPr>
            <a:r>
              <a:t>Not implemented (explicit): authentication/roles, advanced system monitoring, full UI CRUD.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1428"/>
          </a:solidFill>
          <a:ln>
            <a:solidFill>
              <a:srgbClr val="0E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BF2FF"/>
                </a:solidFill>
              </a:rPr>
              <a:t>System Architecture &amp; Repository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AD2"/>
                </a:solidFill>
              </a:rPr>
              <a:t>Frontend / Backend separation (maintainable &amp; scalable)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10744200" cy="4892040"/>
          </a:xfrm>
          <a:prstGeom prst="roundRect">
            <a:avLst/>
          </a:prstGeom>
          <a:solidFill>
            <a:srgbClr val="050812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bfb45b2-d27c-4407-8258-6a35171e88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141" y="1307592"/>
            <a:ext cx="1410957" cy="45628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126480"/>
            <a:ext cx="10744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AD2"/>
                </a:solidFill>
              </a:defRPr>
            </a:pPr>
            <a:r>
              <a:t>Repository shows distinct frontend/backend folders. Backend stores scores/users as JSON; frontend contains UI, game logic, and geospatial datasets.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1428"/>
          </a:solidFill>
          <a:ln>
            <a:solidFill>
              <a:srgbClr val="0E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BF2FF"/>
                </a:solidFill>
              </a:rPr>
              <a:t>Game Entry (Direct Guest Access)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AD2"/>
                </a:solidFill>
              </a:rPr>
              <a:t>Fast start without authentication (scope-focused design)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10744200" cy="4892040"/>
          </a:xfrm>
          <a:prstGeom prst="roundRect">
            <a:avLst/>
          </a:prstGeom>
          <a:solidFill>
            <a:srgbClr val="050812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94d3c01-91f6-4190-a14d-fe4c976c63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339" y="1307592"/>
            <a:ext cx="8122560" cy="45628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126480"/>
            <a:ext cx="10744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AD2"/>
                </a:solidFill>
              </a:defRPr>
            </a:pPr>
            <a:r>
              <a:t>Direct access reduces complexity and lets users start playing instantly. Authentication can be added as a future enhancement.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1428"/>
          </a:solidFill>
          <a:ln>
            <a:solidFill>
              <a:srgbClr val="0E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BF2FF"/>
                </a:solidFill>
              </a:rPr>
              <a:t>Gameplay (Distance + Score + Time)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AD2"/>
                </a:solidFill>
              </a:rPr>
              <a:t>Spatial accuracy is measured and turned into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10744200" cy="4892040"/>
          </a:xfrm>
          <a:prstGeom prst="roundRect">
            <a:avLst/>
          </a:prstGeom>
          <a:solidFill>
            <a:srgbClr val="050812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e0fbb99-09e7-4f6a-ae34-aa517684d3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206" y="1307592"/>
            <a:ext cx="8114827" cy="45628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126480"/>
            <a:ext cx="10744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AD2"/>
                </a:solidFill>
              </a:defRPr>
            </a:pPr>
            <a:r>
              <a:t>UI shows target club, distance error (km), score, and time left. This is the core Web GIS + game mechanic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1428"/>
          </a:solidFill>
          <a:ln>
            <a:solidFill>
              <a:srgbClr val="0E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BF2FF"/>
                </a:solidFill>
              </a:rPr>
              <a:t>Backend &amp; Data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AD2"/>
                </a:solidFill>
              </a:rPr>
              <a:t>How data flows and how results are stored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10744200" cy="5623560"/>
          </a:xfrm>
          <a:prstGeom prst="roundRect">
            <a:avLst/>
          </a:prstGeom>
          <a:solidFill>
            <a:srgbClr val="0E1428"/>
          </a:solidFill>
          <a:ln w="15240">
            <a:solidFill>
              <a:srgbClr val="28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73152" cy="5623560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344168"/>
            <a:ext cx="10287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BF2FF"/>
                </a:solidFill>
              </a:defRPr>
            </a:pPr>
            <a:r>
              <a:t>Geospatial datasets: teams.geojson provides ground-truth stadium locations; CSV supports coordinate logic.</a:t>
            </a:r>
          </a:p>
          <a:p>
            <a:pPr>
              <a:spcAft>
                <a:spcPts val="600"/>
              </a:spcAft>
              <a:defRPr sz="1800">
                <a:solidFill>
                  <a:srgbClr val="EBF2FF"/>
                </a:solidFill>
              </a:defRPr>
            </a:pPr>
            <a:r>
              <a:t>Backend (Node.js): provides endpoints / logic for storing and retrieving score records.</a:t>
            </a:r>
          </a:p>
          <a:p>
            <a:pPr>
              <a:spcAft>
                <a:spcPts val="600"/>
              </a:spcAft>
              <a:defRPr sz="1800">
                <a:solidFill>
                  <a:srgbClr val="EBF2FF"/>
                </a:solidFill>
              </a:defRPr>
            </a:pPr>
            <a:r>
              <a:t>Persistence: scores.json keeps results across sessions (create/read). users.json exists as a lightweight structure for future login.</a:t>
            </a:r>
          </a:p>
          <a:p>
            <a:pPr>
              <a:spcAft>
                <a:spcPts val="600"/>
              </a:spcAft>
              <a:defRPr sz="1800">
                <a:solidFill>
                  <a:srgbClr val="EBF2FF"/>
                </a:solidFill>
              </a:defRPr>
            </a:pPr>
            <a:r>
              <a:t>Basic operational evidence: access.log supports debugging and reliability during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1428"/>
          </a:solidFill>
          <a:ln>
            <a:solidFill>
              <a:srgbClr val="0E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BF2FF"/>
                </a:solidFill>
              </a:rPr>
              <a:t>AWS EC2 Deployment (Live Proof)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AD2"/>
                </a:solidFill>
              </a:rPr>
              <a:t>Cloud hosting and availability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10744200" cy="4892040"/>
          </a:xfrm>
          <a:prstGeom prst="roundRect">
            <a:avLst/>
          </a:prstGeom>
          <a:solidFill>
            <a:srgbClr val="050812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1ba79dd-6873-4d59-8f3b-bc3008ffc0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586341"/>
            <a:ext cx="10415016" cy="40053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126480"/>
            <a:ext cx="10744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AD2"/>
                </a:solidFill>
              </a:defRPr>
            </a:pPr>
            <a:r>
              <a:t>EC2 instance is running with health checks passed. The project is deployed as a live service and ready for demonstration/grading.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1428"/>
          </a:solidFill>
          <a:ln>
            <a:solidFill>
              <a:srgbClr val="0E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F"/>
                </a:solidFill>
              </a:defRPr>
            </a:pPr>
            <a:r>
              <a:t>AWS Deployment – Setup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BAD2"/>
                </a:solidFill>
              </a:defRPr>
            </a:pPr>
            <a:r>
              <a:t>How the system was deployed before going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10744200" cy="5623560"/>
          </a:xfrm>
          <a:prstGeom prst="roundRect">
            <a:avLst/>
          </a:prstGeom>
          <a:solidFill>
            <a:srgbClr val="0E1428"/>
          </a:solidFill>
          <a:ln>
            <a:solidFill>
              <a:srgbClr val="28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25880"/>
            <a:ext cx="10241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BF2FF"/>
                </a:solidFill>
              </a:defRPr>
            </a:pPr>
            <a:r>
              <a:t>An AWS EC2 instance was created using Amazon Linux and a t3.micro instance type.</a:t>
            </a:r>
          </a:p>
          <a:p>
            <a:pPr>
              <a:spcAft>
                <a:spcPts val="800"/>
              </a:spcAft>
              <a:defRPr sz="1800">
                <a:solidFill>
                  <a:srgbClr val="EBF2FF"/>
                </a:solidFill>
              </a:defRPr>
            </a:pPr>
            <a:r>
              <a:t>Security groups were configured to allow HTTP (port 80) and SSH (port 22) access.</a:t>
            </a:r>
          </a:p>
          <a:p>
            <a:pPr>
              <a:spcAft>
                <a:spcPts val="800"/>
              </a:spcAft>
              <a:defRPr sz="1800">
                <a:solidFill>
                  <a:srgbClr val="EBF2FF"/>
                </a:solidFill>
              </a:defRPr>
            </a:pPr>
            <a:r>
              <a:t>The project repository was transferred to the EC2 instance and dependencies were installed.</a:t>
            </a:r>
          </a:p>
          <a:p>
            <a:pPr>
              <a:spcAft>
                <a:spcPts val="800"/>
              </a:spcAft>
              <a:defRPr sz="1800">
                <a:solidFill>
                  <a:srgbClr val="EBF2FF"/>
                </a:solidFill>
              </a:defRPr>
            </a:pPr>
            <a:r>
              <a:t>A Node.js server was configured to serve the backend and handle score persistence.</a:t>
            </a:r>
          </a:p>
          <a:p>
            <a:pPr>
              <a:spcAft>
                <a:spcPts val="800"/>
              </a:spcAft>
              <a:defRPr sz="1800">
                <a:solidFill>
                  <a:srgbClr val="EBF2FF"/>
                </a:solidFill>
              </a:defRPr>
            </a:pPr>
            <a:r>
              <a:t>Frontend files were served through the same instance, enabling a single public entry point.</a:t>
            </a:r>
          </a:p>
          <a:p>
            <a:pPr>
              <a:spcAft>
                <a:spcPts val="800"/>
              </a:spcAft>
              <a:defRPr sz="1800">
                <a:solidFill>
                  <a:srgbClr val="EBF2FF"/>
                </a:solidFill>
              </a:defRPr>
            </a:pPr>
            <a:r>
              <a:t>After testing locally on the server, the application was exposed via the EC2 public IPv4 address.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